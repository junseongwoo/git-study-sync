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slides/charts/chart2.xml" ContentType="application/vnd.openxmlformats-officedocument.drawingml.chart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3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0fc9afdaff4ff1" /><Relationship Type="http://schemas.openxmlformats.org/officeDocument/2006/relationships/extended-properties" Target="/docProps/app.xml" Id="Ra7b9b1d0b9f74fd0" /><Relationship Type="http://schemas.openxmlformats.org/officeDocument/2006/relationships/officeDocument" Target="/ppt/presentation.xml" Id="R7d94754311a142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2ca579166e4000"/>
  </p:sldMasterIdLst>
  <p:notesMasterIdLst>
    <p:notesMasterId xmlns:r="http://schemas.openxmlformats.org/officeDocument/2006/relationships" r:id="R2b45e3ef7f764842"/>
  </p:notesMasterIdLst>
  <p:sldIdLst>
    <p:sldId xmlns:r="http://schemas.openxmlformats.org/officeDocument/2006/relationships" id="256" r:id="R38176a5c32264298"/>
    <p:sldId xmlns:r="http://schemas.openxmlformats.org/officeDocument/2006/relationships" id="257" r:id="R5d530298b8894cdf"/>
    <p:sldId xmlns:r="http://schemas.openxmlformats.org/officeDocument/2006/relationships" id="258" r:id="R153d3d9a4c534261"/>
    <p:sldId xmlns:r="http://schemas.openxmlformats.org/officeDocument/2006/relationships" id="259" r:id="Ra8456fc475a1450e"/>
    <p:sldId xmlns:r="http://schemas.openxmlformats.org/officeDocument/2006/relationships" id="260" r:id="R1b695890fe3648a5"/>
    <p:sldId xmlns:r="http://schemas.openxmlformats.org/officeDocument/2006/relationships" id="261" r:id="Receefb8cebb64d91"/>
    <p:sldId xmlns:r="http://schemas.openxmlformats.org/officeDocument/2006/relationships" id="262" r:id="R422a790ccbde4276"/>
    <p:sldId xmlns:r="http://schemas.openxmlformats.org/officeDocument/2006/relationships" id="263" r:id="R346379101b764df6"/>
    <p:sldId xmlns:r="http://schemas.openxmlformats.org/officeDocument/2006/relationships" id="264" r:id="R9a4858f2863849aa"/>
    <p:sldId xmlns:r="http://schemas.openxmlformats.org/officeDocument/2006/relationships" id="265" r:id="R6182d0e26d094aa4"/>
    <p:sldId xmlns:r="http://schemas.openxmlformats.org/officeDocument/2006/relationships" id="266" r:id="R50bc89a8282f4860"/>
    <p:sldId xmlns:r="http://schemas.openxmlformats.org/officeDocument/2006/relationships" id="267" r:id="Ra22412378e7c436c"/>
    <p:sldId xmlns:r="http://schemas.openxmlformats.org/officeDocument/2006/relationships" id="268" r:id="Ref6628658bd149b0"/>
    <p:sldId xmlns:r="http://schemas.openxmlformats.org/officeDocument/2006/relationships" id="269" r:id="R2f260e29032d445d"/>
    <p:sldId xmlns:r="http://schemas.openxmlformats.org/officeDocument/2006/relationships" id="270" r:id="Rc2d106fb56d840f5"/>
    <p:sldId xmlns:r="http://schemas.openxmlformats.org/officeDocument/2006/relationships" id="271" r:id="R436fe68a502345e2"/>
    <p:sldId xmlns:r="http://schemas.openxmlformats.org/officeDocument/2006/relationships" id="272" r:id="Ra211929d655a450d"/>
    <p:sldId xmlns:r="http://schemas.openxmlformats.org/officeDocument/2006/relationships" id="273" r:id="R923e76750fd347d6"/>
    <p:sldId xmlns:r="http://schemas.openxmlformats.org/officeDocument/2006/relationships" id="274" r:id="R1ea18073912c4652"/>
    <p:sldId xmlns:r="http://schemas.openxmlformats.org/officeDocument/2006/relationships" id="275" r:id="R396555f650724b9c"/>
    <p:sldId xmlns:r="http://schemas.openxmlformats.org/officeDocument/2006/relationships" id="276" r:id="R874cd231d03c4526"/>
    <p:sldId xmlns:r="http://schemas.openxmlformats.org/officeDocument/2006/relationships" id="277" r:id="R701a5a0720f74dfc"/>
    <p:sldId xmlns:r="http://schemas.openxmlformats.org/officeDocument/2006/relationships" id="278" r:id="R49ac7c9f931c4412"/>
    <p:sldId xmlns:r="http://schemas.openxmlformats.org/officeDocument/2006/relationships" id="279" r:id="R46d32feb748542b1"/>
    <p:sldId xmlns:r="http://schemas.openxmlformats.org/officeDocument/2006/relationships" id="280" r:id="R723c95b44bf84684"/>
    <p:sldId xmlns:r="http://schemas.openxmlformats.org/officeDocument/2006/relationships" id="281" r:id="Rb0ee6824b22f48ad"/>
    <p:sldId xmlns:r="http://schemas.openxmlformats.org/officeDocument/2006/relationships" id="282" r:id="Re5c4466ecfbe4abc"/>
    <p:sldId xmlns:r="http://schemas.openxmlformats.org/officeDocument/2006/relationships" id="283" r:id="R504cfa8bc0f145d8"/>
    <p:sldId xmlns:r="http://schemas.openxmlformats.org/officeDocument/2006/relationships" id="284" r:id="R2eeeb3f612d54da9"/>
    <p:sldId xmlns:r="http://schemas.openxmlformats.org/officeDocument/2006/relationships" id="285" r:id="Rca19cceec0dc4835"/>
    <p:sldId xmlns:r="http://schemas.openxmlformats.org/officeDocument/2006/relationships" id="286" r:id="Rbfefd247703f48ad"/>
    <p:sldId xmlns:r="http://schemas.openxmlformats.org/officeDocument/2006/relationships" id="287" r:id="R43332f693eb944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d3d7913e24b5d" /><Relationship Type="http://schemas.openxmlformats.org/officeDocument/2006/relationships/slideMaster" Target="/ppt/slideMasters/slideMaster1.xml" Id="Rb12ca579166e4000" /><Relationship Type="http://schemas.openxmlformats.org/officeDocument/2006/relationships/notesMaster" Target="/ppt/notesMasters/notesMaster1.xml" Id="R2b45e3ef7f764842" /><Relationship Type="http://schemas.openxmlformats.org/officeDocument/2006/relationships/presProps" Target="/ppt/presProps.xml" Id="R09e458d0895b4156" /><Relationship Type="http://schemas.openxmlformats.org/officeDocument/2006/relationships/tableStyles" Target="/ppt/tableStyles.xml" Id="R0340af678bbe47cd" /><Relationship Type="http://schemas.openxmlformats.org/officeDocument/2006/relationships/slide" Target="/ppt/slides/slide1.xml" Id="R38176a5c32264298" /><Relationship Type="http://schemas.openxmlformats.org/officeDocument/2006/relationships/slide" Target="/ppt/slides/slide2.xml" Id="R5d530298b8894cdf" /><Relationship Type="http://schemas.openxmlformats.org/officeDocument/2006/relationships/slide" Target="/ppt/slides/slide3.xml" Id="R153d3d9a4c534261" /><Relationship Type="http://schemas.openxmlformats.org/officeDocument/2006/relationships/slide" Target="/ppt/slides/slide4.xml" Id="Ra8456fc475a1450e" /><Relationship Type="http://schemas.openxmlformats.org/officeDocument/2006/relationships/slide" Target="/ppt/slides/slide5.xml" Id="R1b695890fe3648a5" /><Relationship Type="http://schemas.openxmlformats.org/officeDocument/2006/relationships/slide" Target="/ppt/slides/slide6.xml" Id="Receefb8cebb64d91" /><Relationship Type="http://schemas.openxmlformats.org/officeDocument/2006/relationships/slide" Target="/ppt/slides/slide7.xml" Id="R422a790ccbde4276" /><Relationship Type="http://schemas.openxmlformats.org/officeDocument/2006/relationships/slide" Target="/ppt/slides/slide8.xml" Id="R346379101b764df6" /><Relationship Type="http://schemas.openxmlformats.org/officeDocument/2006/relationships/slide" Target="/ppt/slides/slide9.xml" Id="R9a4858f2863849aa" /><Relationship Type="http://schemas.openxmlformats.org/officeDocument/2006/relationships/slide" Target="/ppt/slides/slide10.xml" Id="R6182d0e26d094aa4" /><Relationship Type="http://schemas.openxmlformats.org/officeDocument/2006/relationships/slide" Target="/ppt/slides/slide11.xml" Id="R50bc89a8282f4860" /><Relationship Type="http://schemas.openxmlformats.org/officeDocument/2006/relationships/slide" Target="/ppt/slides/slide12.xml" Id="Ra22412378e7c436c" /><Relationship Type="http://schemas.openxmlformats.org/officeDocument/2006/relationships/slide" Target="/ppt/slides/slide13.xml" Id="Ref6628658bd149b0" /><Relationship Type="http://schemas.openxmlformats.org/officeDocument/2006/relationships/slide" Target="/ppt/slides/slide14.xml" Id="R2f260e29032d445d" /><Relationship Type="http://schemas.openxmlformats.org/officeDocument/2006/relationships/slide" Target="/ppt/slides/slide15.xml" Id="Rc2d106fb56d840f5" /><Relationship Type="http://schemas.openxmlformats.org/officeDocument/2006/relationships/slide" Target="/ppt/slides/slide16.xml" Id="R436fe68a502345e2" /><Relationship Type="http://schemas.openxmlformats.org/officeDocument/2006/relationships/slide" Target="/ppt/slides/slide17.xml" Id="Ra211929d655a450d" /><Relationship Type="http://schemas.openxmlformats.org/officeDocument/2006/relationships/slide" Target="/ppt/slides/slide18.xml" Id="R923e76750fd347d6" /><Relationship Type="http://schemas.openxmlformats.org/officeDocument/2006/relationships/slide" Target="/ppt/slides/slide19.xml" Id="R1ea18073912c4652" /><Relationship Type="http://schemas.openxmlformats.org/officeDocument/2006/relationships/slide" Target="/ppt/slides/slide20.xml" Id="R396555f650724b9c" /><Relationship Type="http://schemas.openxmlformats.org/officeDocument/2006/relationships/slide" Target="/ppt/slides/slide21.xml" Id="R874cd231d03c4526" /><Relationship Type="http://schemas.openxmlformats.org/officeDocument/2006/relationships/slide" Target="/ppt/slides/slide22.xml" Id="R701a5a0720f74dfc" /><Relationship Type="http://schemas.openxmlformats.org/officeDocument/2006/relationships/slide" Target="/ppt/slides/slide23.xml" Id="R49ac7c9f931c4412" /><Relationship Type="http://schemas.openxmlformats.org/officeDocument/2006/relationships/slide" Target="/ppt/slides/slide24.xml" Id="R46d32feb748542b1" /><Relationship Type="http://schemas.openxmlformats.org/officeDocument/2006/relationships/slide" Target="/ppt/slides/slide25.xml" Id="R723c95b44bf84684" /><Relationship Type="http://schemas.openxmlformats.org/officeDocument/2006/relationships/slide" Target="/ppt/slides/slide26.xml" Id="Rb0ee6824b22f48ad" /><Relationship Type="http://schemas.openxmlformats.org/officeDocument/2006/relationships/slide" Target="/ppt/slides/slide27.xml" Id="Re5c4466ecfbe4abc" /><Relationship Type="http://schemas.openxmlformats.org/officeDocument/2006/relationships/slide" Target="/ppt/slides/slide28.xml" Id="R504cfa8bc0f145d8" /><Relationship Type="http://schemas.openxmlformats.org/officeDocument/2006/relationships/slide" Target="/ppt/slides/slide29.xml" Id="R2eeeb3f612d54da9" /><Relationship Type="http://schemas.openxmlformats.org/officeDocument/2006/relationships/slide" Target="/ppt/slides/slide30.xml" Id="Rca19cceec0dc4835" /><Relationship Type="http://schemas.openxmlformats.org/officeDocument/2006/relationships/slide" Target="/ppt/slides/slide31.xml" Id="Rbfefd247703f48ad" /><Relationship Type="http://schemas.openxmlformats.org/officeDocument/2006/relationships/slide" Target="/ppt/slides/slide32.xml" Id="R43332f693eb944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f13ded06444f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fd622be3d149a1" /><Relationship Type="http://schemas.openxmlformats.org/officeDocument/2006/relationships/notesMaster" Target="/ppt/notesMasters/notesMaster1.xml" Id="R94d8daad4a9e4e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c5b275c934881" /><Relationship Type="http://schemas.openxmlformats.org/officeDocument/2006/relationships/notesMaster" Target="/ppt/notesMasters/notesMaster1.xml" Id="Rc4085ebc697746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9f72a2c80842f9" /><Relationship Type="http://schemas.openxmlformats.org/officeDocument/2006/relationships/notesMaster" Target="/ppt/notesMasters/notesMaster1.xml" Id="R8c7f9807ab8743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9a3b9179734510" /><Relationship Type="http://schemas.openxmlformats.org/officeDocument/2006/relationships/notesMaster" Target="/ppt/notesMasters/notesMaster1.xml" Id="R74b54bfd715e4d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c6e75a71a42d0" /><Relationship Type="http://schemas.openxmlformats.org/officeDocument/2006/relationships/notesMaster" Target="/ppt/notesMasters/notesMaster1.xml" Id="R8e15f2f284d8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ed1f0a9784b55" /><Relationship Type="http://schemas.openxmlformats.org/officeDocument/2006/relationships/notesMaster" Target="/ppt/notesMasters/notesMaster1.xml" Id="R30f81a202def4b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af044fe7784644" /><Relationship Type="http://schemas.openxmlformats.org/officeDocument/2006/relationships/notesMaster" Target="/ppt/notesMasters/notesMaster1.xml" Id="R7288b8a7e6934c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0ed53124df4a01" /><Relationship Type="http://schemas.openxmlformats.org/officeDocument/2006/relationships/notesMaster" Target="/ppt/notesMasters/notesMaster1.xml" Id="R70fbd8d4b30548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947bbec5cd4bae" /><Relationship Type="http://schemas.openxmlformats.org/officeDocument/2006/relationships/notesMaster" Target="/ppt/notesMasters/notesMaster1.xml" Id="R713c1d58c2f141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5ef7dc57764a2a" /><Relationship Type="http://schemas.openxmlformats.org/officeDocument/2006/relationships/notesMaster" Target="/ppt/notesMasters/notesMaster1.xml" Id="R90df2d4c31ae48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ecf57d5fe54f5b" /><Relationship Type="http://schemas.openxmlformats.org/officeDocument/2006/relationships/notesMaster" Target="/ppt/notesMasters/notesMaster1.xml" Id="R97036e22d3a646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d8fd3f896248c2" /><Relationship Type="http://schemas.openxmlformats.org/officeDocument/2006/relationships/notesMaster" Target="/ppt/notesMasters/notesMaster1.xml" Id="R859de2eb225845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4252976c4f4695" /><Relationship Type="http://schemas.openxmlformats.org/officeDocument/2006/relationships/notesMaster" Target="/ppt/notesMasters/notesMaster1.xml" Id="R7dbc8cc2a31049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7d5a1d989043bc" /><Relationship Type="http://schemas.openxmlformats.org/officeDocument/2006/relationships/notesMaster" Target="/ppt/notesMasters/notesMaster1.xml" Id="R796416024d8747a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a0263e67464e48" /><Relationship Type="http://schemas.openxmlformats.org/officeDocument/2006/relationships/notesMaster" Target="/ppt/notesMasters/notesMaster1.xml" Id="Re44cff8178c24b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751c7bc3fe476f" /><Relationship Type="http://schemas.openxmlformats.org/officeDocument/2006/relationships/notesMaster" Target="/ppt/notesMasters/notesMaster1.xml" Id="Rf809dd580e0948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902778259a4151" /><Relationship Type="http://schemas.openxmlformats.org/officeDocument/2006/relationships/notesMaster" Target="/ppt/notesMasters/notesMaster1.xml" Id="Ra8e2d6ce02a64db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4ba699a3d248b5" /><Relationship Type="http://schemas.openxmlformats.org/officeDocument/2006/relationships/notesMaster" Target="/ppt/notesMasters/notesMaster1.xml" Id="R47018eb667774d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6750e502b344ea" /><Relationship Type="http://schemas.openxmlformats.org/officeDocument/2006/relationships/notesMaster" Target="/ppt/notesMasters/notesMaster1.xml" Id="Rfe5ae71a07a943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4e855919774f84" /><Relationship Type="http://schemas.openxmlformats.org/officeDocument/2006/relationships/notesMaster" Target="/ppt/notesMasters/notesMaster1.xml" Id="R1b111578501a44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07c267a9424a44" /><Relationship Type="http://schemas.openxmlformats.org/officeDocument/2006/relationships/notesMaster" Target="/ppt/notesMasters/notesMaster1.xml" Id="Rc084354914054e2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91477431554a0d" /><Relationship Type="http://schemas.openxmlformats.org/officeDocument/2006/relationships/notesMaster" Target="/ppt/notesMasters/notesMaster1.xml" Id="R5aedc731ceb4431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f0617597c74a20" /><Relationship Type="http://schemas.openxmlformats.org/officeDocument/2006/relationships/notesMaster" Target="/ppt/notesMasters/notesMaster1.xml" Id="R04230bd5e9db4f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20caecc4f3b43f1" /><Relationship Type="http://schemas.openxmlformats.org/officeDocument/2006/relationships/notesMaster" Target="/ppt/notesMasters/notesMaster1.xml" Id="R497aa7004c9d49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f1839e57714fcc" /><Relationship Type="http://schemas.openxmlformats.org/officeDocument/2006/relationships/notesMaster" Target="/ppt/notesMasters/notesMaster1.xml" Id="R31fc663bc4e04c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92a57062a52470e" /><Relationship Type="http://schemas.openxmlformats.org/officeDocument/2006/relationships/notesMaster" Target="/ppt/notesMasters/notesMaster1.xml" Id="R957142db30394b6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e5f1e267784f59" /><Relationship Type="http://schemas.openxmlformats.org/officeDocument/2006/relationships/notesMaster" Target="/ppt/notesMasters/notesMaster1.xml" Id="R676f15dfe971458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84c6453f784d61" /><Relationship Type="http://schemas.openxmlformats.org/officeDocument/2006/relationships/notesMaster" Target="/ppt/notesMasters/notesMaster1.xml" Id="R7fdb530ed4f048f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a8319b2eacc4579" /><Relationship Type="http://schemas.openxmlformats.org/officeDocument/2006/relationships/notesMaster" Target="/ppt/notesMasters/notesMaster1.xml" Id="R2ce0304343c942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385ed091ec945bf" /><Relationship Type="http://schemas.openxmlformats.org/officeDocument/2006/relationships/notesMaster" Target="/ppt/notesMasters/notesMaster1.xml" Id="R95e4c31c7cbf45b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9e63bdef1a942c5" /><Relationship Type="http://schemas.openxmlformats.org/officeDocument/2006/relationships/notesMaster" Target="/ppt/notesMasters/notesMaster1.xml" Id="Rff545c787bab4d8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058d5c54f3a406c" /><Relationship Type="http://schemas.openxmlformats.org/officeDocument/2006/relationships/notesMaster" Target="/ppt/notesMasters/notesMaster1.xml" Id="R77e35aa889a9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uLedInspection.Algorithms/CorrectedDenseMapInspector.cs:122–157, 356–374, 661–797, 1092–1189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uLedInspection.Algorithms/CorrectedDenseMapInspector.cs:122–157, 356–374, 661–797, 1092–1189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AGENTS.md, 검사 좌표/인덱스 용어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uLedInspection.Algorithms/GaussianLevelSampler.cs:14–16, 93–196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CorrectedDenseMapInspector.cs:1192–1246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CorrectedDenseMapInspector.cs:661–662,1092–1115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uLedIp/Inspection/PointGridInspectionAlgorithm.cs:525–602, 1450–1528, 1910–1931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uLedIp/Inspection/InspectionImageConverter.cs:16–49</a:t>
            </a:r>
          </a:p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uLedInspection.Algorithms/CorrectedDenseMapInspector.cs:122–157, 356–374, 661–797, 1092–1189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모든 백분율은 ki×kj/4096×100으로 직접 계산. 표시값만 반올림.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중앙 정사각형 누적 = 해당 1D 계수합의 제곱 /4096.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자체 계산: 배경=0, 지정 정사각형만 200 DN, 정수 중심, 이웃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SampleBilinear 메서드. 예시 중심=(100.25,200.60).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q(n)=0.5k(n)+0.5k(n−1), 원본 8개 픽셀에 대한 유효 1D kernel.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잡음 수치는 독립·동일분산 잡음, 영상 내부·정수 중심에서의 가중합 계산.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Var(L)=σn²Σw². 이항7×7: sqrt(ΣW²)=Σk²=924/4096=0.2255859375. Neff=1/ΣW².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uLedInspection.Algorithms/GaussianLevelSampler.cs:14–16, 93–196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수치 실험. 실측 장비 데이터 아님. Iδ(x,y)=round[10+200 exp(-((x-δx)²+(y-δy)²)/(2s²))], 정수 격자에서 8-bit DN 생성, 무잡음·무포화·이웃 dot 없음·영상 경계에서 충분히 멂. 현재 코드의 이항 7×7과 bilinear를 직접 계산. 배경을 뺀 유지율은 설명용이며 실제 sampler는 배경을 빼지 않음. 재현 코드: .codex-dot-ppt/build.mjs.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수치 실험. 실측 장비 데이터 아님. Iδ(x,y)=round[10+200 exp(-((x-δx)²+(y-δy)²)/(2s²))], 정수 격자에서 8-bit DN 생성, 무잡음·무포화·이웃 dot 없음·영상 경계에서 충분히 멂. 현재 코드의 이항 7×7과 bilinear를 직접 계산. 배경을 뺀 유지율은 설명용이며 실제 sampler는 배경을 빼지 않음. 재현 코드: .codex-dot-ppt/build.mjs.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수치 실험. 실측 장비 데이터 아님. Iδ(x,y)=round[10+200 exp(-((x-δx)²+(y-δy)²)/(2s²))], 정수 격자에서 8-bit DN 생성, 무잡음·무포화·이웃 dot 없음·영상 경계에서 충분히 멂. 현재 코드의 이항 7×7과 bilinear를 직접 계산. 배경을 뺀 유지율은 설명용이며 실제 sampler는 배경을 빼지 않음. 재현 코드: .codex-dot-ppt/build.mjs.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수치 실험. 실측 장비 데이터 아님. Iδ(x,y)=round[10+200 exp(-((x-δx)²+(y-δy)²)/(2s²))], 정수 격자에서 8-bit DN 생성, 무잡음·무포화·이웃 dot 없음·영상 경계에서 충분히 멂. 현재 코드의 이항 7×7과 bilinear를 직접 계산. 배경을 뺀 유지율은 설명용이며 실제 sampler는 배경을 빼지 않음. 재현 코드: .codex-dot-ppt/build.mjs.  dot s=1.5 px.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수치 실험. 실측 장비 데이터 아님. Iδ(x,y)=round[10+200 exp(-((x-δx)²+(y-δy)²)/(2s²))], 정수 격자에서 8-bit DN 생성, 무잡음·무포화·이웃 dot 없음·영상 경계에서 충분히 멂. 현재 코드의 이항 7×7과 bilinear를 직접 계산. 배경을 뺀 유지율은 설명용이며 실제 sampler는 배경을 빼지 않음. 재현 코드: .codex-dot-ppt/build.mjs.  dot s=1.5 px, 샘플 중심=(δ,0). Nearest의 정확한 0.5 tie는 원코드 Math.Round의 ties-to-even이며 이 대칭 실험에서는 양쪽 값이 같다.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 수치 실험. 실측 장비 데이터 아님. Iδ(x,y)=round[10+200 exp(-((x-δx)²+(y-δy)²)/(2s²))], 정수 격자에서 8-bit DN 생성, 무잡음·무포화·이웃 dot 없음·영상 경계에서 충분히 멂. 현재 코드의 이항 7×7과 bilinear를 직접 계산. 배경을 뺀 유지율은 설명용이며 실제 sampler는 배경을 빼지 않음. 재현 코드: .codex-dot-ppt/build.mjs. 추가: 동일 영상 중심 raw pixel과 7×7 Gaussian의 배경 제거 신호 유지율 비교.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자체 유도: 연속 2D Gaussian dot과 정규화 Gaussian kernel의 convolution. 실제 이항·유한 지지·8-bit·보간과 차이가 있음.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자체 계산: 200 DN impulse 하나의 기여=200×W(dx,dy).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PointGridInspectionAlgorithm.cs:1591–1593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CorrectedDenseMapInspector.cs:187–208,2741–2746</a:t>
            </a:r>
          </a:p>
          <a:p xmlns:a="http://schemas.openxmlformats.org/drawingml/2006/main">
            <a:r>
              <a:t>uLedIp/Inspection/PointGridInspectionAlgorithm.cs:525–602, 1450–1528, 1910–1931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자체 제안: 구현 변경 없이 원본과 좌표를 고정하여 평가.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uLedInspection.Algorithms/CorrectedDenseMapInspector.cs:122–157, 356–374, 661–797, 1092–1189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https://github.com/opencv/opencv/blob/4.x/modules/imgproc/src/smooth.dispatch.cpp</a:t>
            </a:r>
          </a:p>
          <a:p xmlns:a="http://schemas.openxmlformats.org/drawingml/2006/main">
            <a:r>
              <a:t>OpenCV 공식 소스의 n=7, sigma&lt;=0 고정 계수 분기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로컬 경로는 D:/ELP/Project/01.SDC/A1/uLED/Source/uLED_Develop_260903 기준.</a:t>
            </a:r>
          </a:p>
          <a:p xmlns:a="http://schemas.openxmlformats.org/drawingml/2006/main">
            <a:r>
              <a:t>uLedInspection.Algorithms/GaussianLevelSampler.cs:14–16, 93–196</a:t>
            </a:r>
          </a:p>
          <a:p xmlns:a="http://schemas.openxmlformats.org/drawingml/2006/main">
            <a:r>
              <a:t>uLedInspection.Algorithms/CorrectedDenseMapInspector.cs:122–157, 356–374, 661–797, 1092–1189</a:t>
            </a:r>
          </a:p>
          <a:p xmlns:a="http://schemas.openxmlformats.org/drawingml/2006/main">
            <a:r>
              <a:t>uLedIp/Inspection/PointGridInspectionAlgorithm.cs:525–602, 1450–1528, 1910–1931</a:t>
            </a:r>
          </a:p>
          <a:p xmlns:a="http://schemas.openxmlformats.org/drawingml/2006/main">
            <a:r>
              <a:t>uLedIp/Inspection/InspectionImageConverter.cs:16–49</a:t>
            </a:r>
          </a:p>
          <a:p xmlns:a="http://schemas.openxmlformats.org/drawingml/2006/main">
            <a:r>
              <a:t>https://github.com/opencv/opencv/blob/4.x/modules/imgproc/src/smooth.dispatch.cpp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9d0e326f644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06618d948473c" /><Relationship Type="http://schemas.openxmlformats.org/officeDocument/2006/relationships/slideLayout" Target="/ppt/slideLayouts/slideLayout1.xml" Id="R0207744afe9946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07744afe9946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2bcc629e34a0c" /><Relationship Type="http://schemas.openxmlformats.org/officeDocument/2006/relationships/notesSlide" Target="/ppt/notesSlides/notesSlide1.xml" Id="R3e29e39160054a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a677a49964922" /><Relationship Type="http://schemas.openxmlformats.org/officeDocument/2006/relationships/notesSlide" Target="/ppt/notesSlides/notesSlide2.xml" Id="R77c2dc80ee3f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08970a02849ca" /><Relationship Type="http://schemas.openxmlformats.org/officeDocument/2006/relationships/notesSlide" Target="/ppt/notesSlides/notesSlide3.xml" Id="Re6ee06119ea54a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ab29cf33441cc" /><Relationship Type="http://schemas.openxmlformats.org/officeDocument/2006/relationships/notesSlide" Target="/ppt/notesSlides/notesSlide4.xml" Id="R8488f28529494d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1ccc4100d4907" /><Relationship Type="http://schemas.openxmlformats.org/officeDocument/2006/relationships/notesSlide" Target="/ppt/notesSlides/notesSlide5.xml" Id="R4659a15aafc24c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5fc88cc744687" /><Relationship Type="http://schemas.openxmlformats.org/officeDocument/2006/relationships/notesSlide" Target="/ppt/notesSlides/notesSlide6.xml" Id="Ra1eaf3190d7e4b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b4c9320f5428e" /><Relationship Type="http://schemas.openxmlformats.org/officeDocument/2006/relationships/notesSlide" Target="/ppt/notesSlides/notesSlide7.xml" Id="R896b587abd014a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7c85717fb4ab0" /><Relationship Type="http://schemas.openxmlformats.org/officeDocument/2006/relationships/notesSlide" Target="/ppt/notesSlides/notesSlide8.xml" Id="R8986cd6ee0ed49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e90bb4b894bc1" /><Relationship Type="http://schemas.openxmlformats.org/officeDocument/2006/relationships/notesSlide" Target="/ppt/notesSlides/notesSlide9.xml" Id="Rb336d19cb24d41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fb985447b4bc5" /><Relationship Type="http://schemas.openxmlformats.org/officeDocument/2006/relationships/notesSlide" Target="/ppt/notesSlides/notesSlide10.xml" Id="R15194ba98d0e42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7a6936ea24125" /><Relationship Type="http://schemas.openxmlformats.org/officeDocument/2006/relationships/notesSlide" Target="/ppt/notesSlides/notesSlide11.xml" Id="R263b14a9d96d40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f03bbe5474770" /><Relationship Type="http://schemas.openxmlformats.org/officeDocument/2006/relationships/notesSlide" Target="/ppt/notesSlides/notesSlide12.xml" Id="Rdbcc5ac301b74e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c81d294f04d76" /><Relationship Type="http://schemas.openxmlformats.org/officeDocument/2006/relationships/notesSlide" Target="/ppt/notesSlides/notesSlide13.xml" Id="R1a241b4c358f48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617c096024665" /><Relationship Type="http://schemas.openxmlformats.org/officeDocument/2006/relationships/notesSlide" Target="/ppt/notesSlides/notesSlide14.xml" Id="Raa79c07ec75148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50ff260174b33" /><Relationship Type="http://schemas.openxmlformats.org/officeDocument/2006/relationships/notesSlide" Target="/ppt/notesSlides/notesSlide15.xml" Id="Rc1fbcd0668934a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46a4f76704ac4" /><Relationship Type="http://schemas.openxmlformats.org/officeDocument/2006/relationships/notesSlide" Target="/ppt/notesSlides/notesSlide16.xml" Id="Re9d5d36c268b4c0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b0b318ae914625" /><Relationship Type="http://schemas.openxmlformats.org/officeDocument/2006/relationships/notesSlide" Target="/ppt/notesSlides/notesSlide17.xml" Id="R2e855d99e4b84f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0d71e0344ade" /><Relationship Type="http://schemas.openxmlformats.org/officeDocument/2006/relationships/notesSlide" Target="/ppt/notesSlides/notesSlide18.xml" Id="Rfd052f7e106d44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b27ef3de04bf0" /><Relationship Type="http://schemas.openxmlformats.org/officeDocument/2006/relationships/notesSlide" Target="/ppt/notesSlides/notesSlide19.xml" Id="Rb31ef342141b4c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a8fdb77b74399" /><Relationship Type="http://schemas.openxmlformats.org/officeDocument/2006/relationships/notesSlide" Target="/ppt/notesSlides/notesSlide20.xml" Id="R9c863253b967430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4e78005234c1e" /><Relationship Type="http://schemas.openxmlformats.org/officeDocument/2006/relationships/chart" Target="/ppt/slides/charts/chart1.xml" Id="Rf2a99416c7af49c8" /><Relationship Type="http://schemas.openxmlformats.org/officeDocument/2006/relationships/notesSlide" Target="/ppt/notesSlides/notesSlide21.xml" Id="R9d02b0c852284d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e397689e048be" /><Relationship Type="http://schemas.openxmlformats.org/officeDocument/2006/relationships/notesSlide" Target="/ppt/notesSlides/notesSlide22.xml" Id="R86fa331400014f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11f381deb4527" /><Relationship Type="http://schemas.openxmlformats.org/officeDocument/2006/relationships/chart" Target="/ppt/slides/charts/chart2.xml" Id="R9cfbbd5beb024afa" /><Relationship Type="http://schemas.openxmlformats.org/officeDocument/2006/relationships/notesSlide" Target="/ppt/notesSlides/notesSlide23.xml" Id="R690f453c1e22444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3d1fec338490b" /><Relationship Type="http://schemas.openxmlformats.org/officeDocument/2006/relationships/chart" Target="/ppt/slides/charts/chart3.xml" Id="Rdaa891c46948468b" /><Relationship Type="http://schemas.openxmlformats.org/officeDocument/2006/relationships/notesSlide" Target="/ppt/notesSlides/notesSlide24.xml" Id="R6742ea16d218455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31e3315804bf5" /><Relationship Type="http://schemas.openxmlformats.org/officeDocument/2006/relationships/notesSlide" Target="/ppt/notesSlides/notesSlide25.xml" Id="R3ca956f4c5f5408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bae35aeca4625" /><Relationship Type="http://schemas.openxmlformats.org/officeDocument/2006/relationships/notesSlide" Target="/ppt/notesSlides/notesSlide26.xml" Id="R430cb5c6b3db4f9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1fc3d7b044725" /><Relationship Type="http://schemas.openxmlformats.org/officeDocument/2006/relationships/notesSlide" Target="/ppt/notesSlides/notesSlide27.xml" Id="Rbca6c0e8a7c5451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3176e299048d2" /><Relationship Type="http://schemas.openxmlformats.org/officeDocument/2006/relationships/notesSlide" Target="/ppt/notesSlides/notesSlide28.xml" Id="Rf11c56bb63c84f1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0d952ad2460c" /><Relationship Type="http://schemas.openxmlformats.org/officeDocument/2006/relationships/notesSlide" Target="/ppt/notesSlides/notesSlide29.xml" Id="Rb5bdda2a721a44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0a1e5cd88481b" /><Relationship Type="http://schemas.openxmlformats.org/officeDocument/2006/relationships/notesSlide" Target="/ppt/notesSlides/notesSlide30.xml" Id="R77faa7dbedca41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fb8c4049b4b8a" /><Relationship Type="http://schemas.openxmlformats.org/officeDocument/2006/relationships/notesSlide" Target="/ppt/notesSlides/notesSlide31.xml" Id="R61adc50c67da46d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b88578cfc4358" /><Relationship Type="http://schemas.openxmlformats.org/officeDocument/2006/relationships/notesSlide" Target="/ppt/notesSlides/notesSlide32.xml" Id="R1d56bb1e68d54d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dot s=1 px</c:v>
          </c:tx>
          <c:spPr>
            <a:solidFill xmlns:a="http://schemas.openxmlformats.org/drawingml/2006/main">
              <a:srgbClr val="176B9B"/>
            </a:solidFill>
            <a:ln xmlns:a="http://schemas.openxmlformats.org/drawingml/2006/main" w="28575">
              <a:solidFill>
                <a:srgbClr val="176B9B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100</c:v>
                </c:pt>
                <c:pt idx="1">
                  <c:v>99.155567</c:v>
                </c:pt>
                <c:pt idx="2">
                  <c:v>95.335755</c:v>
                </c:pt>
                <c:pt idx="3">
                  <c:v>90.198527</c:v>
                </c:pt>
                <c:pt idx="4">
                  <c:v>82.79161</c:v>
                </c:pt>
                <c:pt idx="5">
                  <c:v>74.786842</c:v>
                </c:pt>
                <c:pt idx="6">
                  <c:v>65.199788</c:v>
                </c:pt>
                <c:pt idx="7">
                  <c:v>56.036527</c:v>
                </c:pt>
                <c:pt idx="8">
                  <c:v>46.510645</c:v>
                </c:pt>
                <c:pt idx="9">
                  <c:v>38.172897</c:v>
                </c:pt>
                <c:pt idx="10">
                  <c:v>29.859114</c:v>
                </c:pt>
                <c:pt idx="11">
                  <c:v>23.207709</c:v>
                </c:pt>
                <c:pt idx="12">
                  <c:v>17.147848</c:v>
                </c:pt>
              </c:numCache>
            </c:numRef>
          </c:val>
          <c:smooth val="0"/>
        </c:ser>
        <c:ser>
          <c:idx val="1"/>
          <c:order val="1"/>
          <c:tx>
            <c:v>dot s=1.5 px</c:v>
          </c:tx>
          <c:spPr>
            <a:solidFill xmlns:a="http://schemas.openxmlformats.org/drawingml/2006/main">
              <a:srgbClr val="CC672C"/>
            </a:solidFill>
            <a:ln xmlns:a="http://schemas.openxmlformats.org/drawingml/2006/main" w="28575">
              <a:solidFill>
                <a:srgbClr val="CC672C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100</c:v>
                </c:pt>
                <c:pt idx="1">
                  <c:v>99.160885</c:v>
                </c:pt>
                <c:pt idx="2">
                  <c:v>96.743475</c:v>
                </c:pt>
                <c:pt idx="3">
                  <c:v>92.931533</c:v>
                </c:pt>
                <c:pt idx="4">
                  <c:v>87.851421</c:v>
                </c:pt>
                <c:pt idx="5">
                  <c:v>81.61959</c:v>
                </c:pt>
                <c:pt idx="6">
                  <c:v>74.637843</c:v>
                </c:pt>
                <c:pt idx="7">
                  <c:v>67.121325</c:v>
                </c:pt>
                <c:pt idx="8">
                  <c:v>59.458622</c:v>
                </c:pt>
                <c:pt idx="9">
                  <c:v>51.656343</c:v>
                </c:pt>
                <c:pt idx="10">
                  <c:v>44.251321</c:v>
                </c:pt>
                <c:pt idx="11">
                  <c:v>37.176247</c:v>
                </c:pt>
                <c:pt idx="12">
                  <c:v>30.84407</c:v>
                </c:pt>
              </c:numCache>
            </c:numRef>
          </c:val>
          <c:smooth val="0"/>
        </c:ser>
        <c:ser>
          <c:idx val="2"/>
          <c:order val="2"/>
          <c:tx>
            <c:v>dot s=2 px</c:v>
          </c:tx>
          <c:spPr>
            <a:solidFill xmlns:a="http://schemas.openxmlformats.org/drawingml/2006/main">
              <a:srgbClr val="007F7A"/>
            </a:solidFill>
            <a:ln xmlns:a="http://schemas.openxmlformats.org/drawingml/2006/main" w="28575">
              <a:solidFill>
                <a:srgbClr val="007F7A"/>
              </a:solidFill>
            </a:ln>
          </c:spPr>
          <c:marker>
            <c:symbol val="none"/>
          </c:marker>
          <c:cat>
            <c:numRef>
              <c:f>'Chart Data'!$E$2:$E$14</c:f>
              <c:numCache>
                <c:formatCode>General</c:formatCode>
                <c:ptCount val="13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</c:numCache>
            </c:numRef>
          </c:cat>
          <c:val>
            <c:numRef>
              <c:f>'Chart Data'!$F$2:$F$14</c:f>
              <c:numCache>
                <c:formatCode>0.0</c:formatCode>
                <c:ptCount val="13"/>
                <c:pt idx="0">
                  <c:v>100</c:v>
                </c:pt>
                <c:pt idx="1">
                  <c:v>99.485941</c:v>
                </c:pt>
                <c:pt idx="2">
                  <c:v>97.929222</c:v>
                </c:pt>
                <c:pt idx="3">
                  <c:v>95.121176</c:v>
                </c:pt>
                <c:pt idx="4">
                  <c:v>91.415217</c:v>
                </c:pt>
                <c:pt idx="5">
                  <c:v>86.946964</c:v>
                </c:pt>
                <c:pt idx="6">
                  <c:v>81.840872</c:v>
                </c:pt>
                <c:pt idx="7">
                  <c:v>75.987703</c:v>
                </c:pt>
                <c:pt idx="8">
                  <c:v>69.798029</c:v>
                </c:pt>
                <c:pt idx="9">
                  <c:v>63.433507</c:v>
                </c:pt>
                <c:pt idx="10">
                  <c:v>57.09807</c:v>
                </c:pt>
                <c:pt idx="11">
                  <c:v>50.655763</c:v>
                </c:pt>
                <c:pt idx="12">
                  <c:v>44.45087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X 방향 잔여 시프트 (px)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신호 유지율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77A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Bilinear</c:v>
          </c:tx>
          <c:spPr>
            <a:solidFill xmlns:a="http://schemas.openxmlformats.org/drawingml/2006/main">
              <a:srgbClr val="176B9B"/>
            </a:solidFill>
            <a:ln xmlns:a="http://schemas.openxmlformats.org/drawingml/2006/main" w="28575">
              <a:solidFill>
                <a:srgbClr val="176B9B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0.00</c:v>
                </c:pt>
                <c:pt idx="1">
                  <c:v>0.10</c:v>
                </c:pt>
                <c:pt idx="2">
                  <c:v>0.20</c:v>
                </c:pt>
                <c:pt idx="3">
                  <c:v>0.30</c:v>
                </c:pt>
                <c:pt idx="4">
                  <c:v>0.40</c:v>
                </c:pt>
                <c:pt idx="5">
                  <c:v>0.50</c:v>
                </c:pt>
                <c:pt idx="6">
                  <c:v>0.60</c:v>
                </c:pt>
                <c:pt idx="7">
                  <c:v>0.70</c:v>
                </c:pt>
                <c:pt idx="8">
                  <c:v>0.80</c:v>
                </c:pt>
                <c:pt idx="9">
                  <c:v>0.90</c:v>
                </c:pt>
                <c:pt idx="10">
                  <c:v>1.00</c:v>
                </c:pt>
              </c:numCache>
            </c:numRef>
          </c:cat>
          <c:val>
            <c:numRef>
              <c:f>'Chart Data'!$B$2:$B$12</c:f>
              <c:numCache>
                <c:formatCode>0.0</c:formatCode>
                <c:ptCount val="11"/>
                <c:pt idx="0">
                  <c:v>128.242188</c:v>
                </c:pt>
                <c:pt idx="1">
                  <c:v>127.119922</c:v>
                </c:pt>
                <c:pt idx="2">
                  <c:v>125.850586</c:v>
                </c:pt>
                <c:pt idx="3">
                  <c:v>125.150977</c:v>
                </c:pt>
                <c:pt idx="4">
                  <c:v>124.867285</c:v>
                </c:pt>
                <c:pt idx="5">
                  <c:v>124.391602</c:v>
                </c:pt>
                <c:pt idx="6">
                  <c:v>124.867285</c:v>
                </c:pt>
                <c:pt idx="7">
                  <c:v>125.150977</c:v>
                </c:pt>
                <c:pt idx="8">
                  <c:v>125.850586</c:v>
                </c:pt>
                <c:pt idx="9">
                  <c:v>127.119922</c:v>
                </c:pt>
                <c:pt idx="10">
                  <c:v>128.242188</c:v>
                </c:pt>
              </c:numCache>
            </c:numRef>
          </c:val>
          <c:smooth val="0"/>
        </c:ser>
        <c:ser>
          <c:idx val="1"/>
          <c:order val="1"/>
          <c:tx>
            <c:v>Nearest</c:v>
          </c:tx>
          <c:spPr>
            <a:solidFill xmlns:a="http://schemas.openxmlformats.org/drawingml/2006/main">
              <a:srgbClr val="CC672C"/>
            </a:solidFill>
            <a:ln xmlns:a="http://schemas.openxmlformats.org/drawingml/2006/main" w="28575">
              <a:solidFill>
                <a:srgbClr val="CC672C"/>
              </a:solidFill>
            </a:ln>
          </c:spPr>
          <c:marker>
            <c:symbol val="none"/>
          </c:marker>
          <c:cat>
            <c:numRef>
              <c:f>'Chart Data'!$C$2:$C$12</c:f>
              <c:numCache>
                <c:formatCode>General</c:formatCode>
                <c:ptCount val="11"/>
                <c:pt idx="0">
                  <c:v>0.00</c:v>
                </c:pt>
                <c:pt idx="1">
                  <c:v>0.10</c:v>
                </c:pt>
                <c:pt idx="2">
                  <c:v>0.20</c:v>
                </c:pt>
                <c:pt idx="3">
                  <c:v>0.30</c:v>
                </c:pt>
                <c:pt idx="4">
                  <c:v>0.40</c:v>
                </c:pt>
                <c:pt idx="5">
                  <c:v>0.50</c:v>
                </c:pt>
                <c:pt idx="6">
                  <c:v>0.60</c:v>
                </c:pt>
                <c:pt idx="7">
                  <c:v>0.70</c:v>
                </c:pt>
                <c:pt idx="8">
                  <c:v>0.80</c:v>
                </c:pt>
                <c:pt idx="9">
                  <c:v>0.90</c:v>
                </c:pt>
                <c:pt idx="10">
                  <c:v>1.00</c:v>
                </c:pt>
              </c:numCache>
            </c:numRef>
          </c:cat>
          <c:val>
            <c:numRef>
              <c:f>'Chart Data'!$D$2:$D$12</c:f>
              <c:numCache>
                <c:formatCode>0.0</c:formatCode>
                <c:ptCount val="11"/>
                <c:pt idx="0">
                  <c:v>128.242188</c:v>
                </c:pt>
                <c:pt idx="1">
                  <c:v>128.278809</c:v>
                </c:pt>
                <c:pt idx="2">
                  <c:v>127.617188</c:v>
                </c:pt>
                <c:pt idx="3">
                  <c:v>126.914063</c:v>
                </c:pt>
                <c:pt idx="4">
                  <c:v>126.047363</c:v>
                </c:pt>
                <c:pt idx="5">
                  <c:v>124.391602</c:v>
                </c:pt>
                <c:pt idx="6">
                  <c:v>126.047363</c:v>
                </c:pt>
                <c:pt idx="7">
                  <c:v>126.914063</c:v>
                </c:pt>
                <c:pt idx="8">
                  <c:v>127.617188</c:v>
                </c:pt>
                <c:pt idx="9">
                  <c:v>128.278809</c:v>
                </c:pt>
                <c:pt idx="10">
                  <c:v>128.242188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함께 이동한 X 위치 (px)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32"/>
          <c:min val="1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레벨 (DN)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77A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중앙 pixel 1개</c:v>
          </c:tx>
          <c:spPr>
            <a:solidFill xmlns:a="http://schemas.openxmlformats.org/drawingml/2006/main">
              <a:srgbClr val="176B9B"/>
            </a:solidFill>
            <a:ln xmlns:a="http://schemas.openxmlformats.org/drawingml/2006/main" w="28575">
              <a:solidFill>
                <a:srgbClr val="176B9B"/>
              </a:solidFill>
            </a:ln>
          </c:spPr>
          <c:marker>
            <c:symbol val="none"/>
          </c:marker>
          <c:cat>
            <c:numRef>
              <c:f>'Chart Data'!$A$2:$A$14</c:f>
              <c:numCache>
                <c:formatCode>General</c:formatCode>
                <c:ptCount val="13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</c:numCache>
            </c:numRef>
          </c:cat>
          <c:val>
            <c:numRef>
              <c:f>'Chart Data'!$B$2:$B$14</c:f>
              <c:numCache>
                <c:formatCode>0.0</c:formatCode>
                <c:ptCount val="13"/>
                <c:pt idx="0">
                  <c:v>100</c:v>
                </c:pt>
                <c:pt idx="1">
                  <c:v>98.5</c:v>
                </c:pt>
                <c:pt idx="2">
                  <c:v>94.5</c:v>
                </c:pt>
                <c:pt idx="3">
                  <c:v>88</c:v>
                </c:pt>
                <c:pt idx="4">
                  <c:v>80</c:v>
                </c:pt>
                <c:pt idx="5">
                  <c:v>70.5</c:v>
                </c:pt>
                <c:pt idx="6">
                  <c:v>60.5</c:v>
                </c:pt>
                <c:pt idx="7">
                  <c:v>50.5</c:v>
                </c:pt>
                <c:pt idx="8">
                  <c:v>41</c:v>
                </c:pt>
                <c:pt idx="9">
                  <c:v>32.5</c:v>
                </c:pt>
                <c:pt idx="10">
                  <c:v>25</c:v>
                </c:pt>
                <c:pt idx="11">
                  <c:v>18.5</c:v>
                </c:pt>
                <c:pt idx="12">
                  <c:v>13.5</c:v>
                </c:pt>
              </c:numCache>
            </c:numRef>
          </c:val>
          <c:smooth val="0"/>
        </c:ser>
        <c:ser>
          <c:idx val="1"/>
          <c:order val="1"/>
          <c:tx>
            <c:v>가우시안 7×7</c:v>
          </c:tx>
          <c:spPr>
            <a:solidFill xmlns:a="http://schemas.openxmlformats.org/drawingml/2006/main">
              <a:srgbClr val="CC672C"/>
            </a:solidFill>
            <a:ln xmlns:a="http://schemas.openxmlformats.org/drawingml/2006/main" w="28575">
              <a:solidFill>
                <a:srgbClr val="CC672C"/>
              </a:solidFill>
            </a:ln>
          </c:spPr>
          <c:marker>
            <c:symbol val="none"/>
          </c:marker>
          <c:cat>
            <c:numRef>
              <c:f>'Chart Data'!$C$2:$C$14</c:f>
              <c:numCache>
                <c:formatCode>General</c:formatCode>
                <c:ptCount val="13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1.25</c:v>
                </c:pt>
                <c:pt idx="6">
                  <c:v>1.5</c:v>
                </c:pt>
                <c:pt idx="7">
                  <c:v>1.75</c:v>
                </c:pt>
                <c:pt idx="8">
                  <c:v>2</c:v>
                </c:pt>
                <c:pt idx="9">
                  <c:v>2.25</c:v>
                </c:pt>
                <c:pt idx="10">
                  <c:v>2.5</c:v>
                </c:pt>
                <c:pt idx="11">
                  <c:v>2.75</c:v>
                </c:pt>
                <c:pt idx="12">
                  <c:v>3</c:v>
                </c:pt>
              </c:numCache>
            </c:numRef>
          </c:cat>
          <c:val>
            <c:numRef>
              <c:f>'Chart Data'!$D$2:$D$14</c:f>
              <c:numCache>
                <c:formatCode>0.0</c:formatCode>
                <c:ptCount val="13"/>
                <c:pt idx="0">
                  <c:v>100</c:v>
                </c:pt>
                <c:pt idx="1">
                  <c:v>99.160885</c:v>
                </c:pt>
                <c:pt idx="2">
                  <c:v>96.743475</c:v>
                </c:pt>
                <c:pt idx="3">
                  <c:v>92.931533</c:v>
                </c:pt>
                <c:pt idx="4">
                  <c:v>87.851421</c:v>
                </c:pt>
                <c:pt idx="5">
                  <c:v>81.61959</c:v>
                </c:pt>
                <c:pt idx="6">
                  <c:v>74.637843</c:v>
                </c:pt>
                <c:pt idx="7">
                  <c:v>67.121325</c:v>
                </c:pt>
                <c:pt idx="8">
                  <c:v>59.458622</c:v>
                </c:pt>
                <c:pt idx="9">
                  <c:v>51.656343</c:v>
                </c:pt>
                <c:pt idx="10">
                  <c:v>44.251321</c:v>
                </c:pt>
                <c:pt idx="11">
                  <c:v>37.176247</c:v>
                </c:pt>
                <c:pt idx="12">
                  <c:v>30.84407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잔여 시프트 (px)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algun Gothic"/>
                    <a:ea typeface="Malgun Gothic"/>
                    <a:cs typeface="Malgun Gothic"/>
                  </a:rPr>
                  <a:t>신호 유지율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2677A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FB768-CDD4-4851-9AF3-0E134381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Dot 측정 영역과</a:t>
            </a:r>
          </a:p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가우시안 레벨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890A5-FD9B-4F6D-AAC4-72E28664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06E14-ED6D-4EF2-98B7-BCAA5C8A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7×7 가중치, 측정 좌표, 시프트 영향의 정량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C6664-84A6-4595-8457-C29395C5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3867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uLED 현재 소스 기준</a:t>
            </a:r>
          </a:p>
          <a:p xmlns:a="http://schemas.openxmlformats.org/drawingml/2006/main">
            <a:pPr>
              <a:defRPr sz="187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2026.09.05</a:t>
            </a:r>
          </a:p>
        </p:txBody>
      </p:sp>
    </p:spTree>
    <p:extLst>
      <p:ext uri="{BB962C8B-B14F-4D97-AF65-F5344CB8AC3E}">
        <p14:creationId xmlns:p14="http://schemas.microsoft.com/office/powerpoint/2010/main" val="1788823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57408-A148-40D2-B33A-2AE27735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핵심 답변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45A85-232F-4082-9610-F9FDE629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영역의 크기와 중심 좌표가 함께 레벨을 결정합니다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FDA73-1C81-4601-98A2-86472A42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8124825"/>
              </a:tblGrid>
              <a:tr h="612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구현의 답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측정하나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/ G / B sub dot 각각의 중심 주변 레벨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얼마나 넓게 보나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중심 7×7, 소수점 중심은 최대 8×8 원본 픽셀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픽셀 비중은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 / 4096 = 9.765625%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시프트를 보정하나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필터는 밝기를 평균화함. 위치 보정은 맵/정합이 담당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12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몇 px까지 괜찮나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dot 폭과 잔여 좌표 오차에 따라 달라짐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68A6F-C1C5-4F1E-8BAF-77E948D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수치 실험은 가정한 dot 영상으로 계산했습니다. 실제 장비의 허용 시프트는 실측으로 확정해야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8922722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46CCE-4B1A-435F-AE0D-2A8AED5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pixel, dot, sub dot의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FD1A4-3C21-41DA-8446-58F9050F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095750"/>
                <a:gridCol w="493395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측정과의 관계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pixel /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카메라 이미지의 물리 픽셀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커널의 좌표 단위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dot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R/G/B sub dot을 포함하는 논리 단위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rx, ry는 dot index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sub dot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또는 G 또는 B의 개별 발광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 중심에서 레벨을 따로 계산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 column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dot index와 channel phase로 변환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1-base: rx=1이면 R=1, G=2, B=3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7295D-D7A7-403B-88EA-965D2A8F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논리 dot 1개를 하나의 7×7 영역으로 묶어 RGB 합산하는 방식으로 해석하면 안 됩니다.</a:t>
            </a:r>
          </a:p>
        </p:txBody>
      </p:sp>
    </p:spTree>
    <p:extLst>
      <p:ext uri="{BB962C8B-B14F-4D97-AF65-F5344CB8AC3E}">
        <p14:creationId xmlns:p14="http://schemas.microsoft.com/office/powerpoint/2010/main" val="1964389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59C95-6451-4AB3-9028-925CA29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dot 영역을 결정하는 네 가지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73993-61FD-4DE7-8DD6-B255E740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429125"/>
                <a:gridCol w="426720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영역 또는 크기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ROI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Recipe에 지정한 이미지 영역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검사할 대상의 범위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dot pitch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채널 중심 사이 거리,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격자 index와 예상 위치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검출 blob / 탐색창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Threshold, Area, Width/Height, pitch 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 후보 검출과 배치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 커널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 주변 오프셋 −3…+3, 49개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밝기 가중 평균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4EA9D-556F-41C5-9A6E-075D60D2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MinArea/MaxArea를 바꾸면 검출 조건이 달라집니다. 가우시안 측정 영역은 계속 7×7입니다.</a:t>
            </a:r>
          </a:p>
        </p:txBody>
      </p:sp>
    </p:spTree>
    <p:extLst>
      <p:ext uri="{BB962C8B-B14F-4D97-AF65-F5344CB8AC3E}">
        <p14:creationId xmlns:p14="http://schemas.microsoft.com/office/powerpoint/2010/main" val="8816655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5F5C1-B2B0-4BA3-A923-758A896A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중심 후보를 찾는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F962B-00FB-4662-BFDD-AD32EF94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blob 중심은 threshold를 통과한 연결 성분의 무게중심입니다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B10FD-2111-4BBF-A0AE-F3BAC5AB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FE8D1-ECB0-4476-BC41-0764735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1  검출용 영상 준비: 설정에 따라 top-hat 배경 평탄화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AB40D-D5CA-4840-AB91-1731FF0E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2  Threshold 초과 픽셀을 8방향 연결 성분으로 묶음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480B8-82DA-408C-A81F-5BB2399E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3  Min/Max Area와 Width/Height 범위로 후보를 제한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BBEBC-1CF5-4EF4-8556-F3ED71AD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862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4  통과한 성분의 centroid를 위치 후보로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0C419F-09C1-4AC7-A090-2DF91EA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이 centroid는 이진 성분의 기하학적 중심입니다. 최대 밝기 픽셀 또는 밝기 가중 centroid와 다릅니다.</a:t>
            </a:r>
          </a:p>
        </p:txBody>
      </p:sp>
    </p:spTree>
    <p:extLst>
      <p:ext uri="{BB962C8B-B14F-4D97-AF65-F5344CB8AC3E}">
        <p14:creationId xmlns:p14="http://schemas.microsoft.com/office/powerpoint/2010/main" val="524182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1782F-04B2-4A1F-BE06-C7B23C6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표준맵의 탐색창과 레벨 영역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17F83-5E19-48E5-8BB8-880327AE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탐색창은 위치 검증용이고, 7×7은 레벨 계산용입니다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B42F0-2FA5-49EA-8DAA-4DD17F18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93D37-B7A5-4F0B-9DE5-A16B12C5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탐색창 반폭 = max(3, floor(0.4 × pitch))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847975"/>
          <a:ext xmlns:a="http://schemas.openxmlformats.org/drawingml/2006/main" cx="109347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762375"/>
                <a:gridCol w="407670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pitch X/Y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탐색창 X×Y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중심 레벨 영역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/ 10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9×9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 / 18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15×15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 / 18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19×15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46DCC-9ECF-427D-84FB-B51BF322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표의 pitch는 계산 예시입니다. 현재 운영 Recipe의 실제 pitch/배율/허용 blob 면적은 별도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6968500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0BE16-C58F-4619-8200-CEA23A8D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최종 측정 중심은 실행 경로에 따라 달라집니다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B0001-A662-458F-BE23-ED516D24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8400"/>
                <a:gridCol w="4381500"/>
                <a:gridCol w="4114800"/>
              </a:tblGrid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측정 좌표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dot 이동을 따라가나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회전·스케일·이동을 적용한 표준 좌표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centroid로 재중심화하지 않음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표준맵 미사용 기준 채널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검출 및 보간·보정으로 확정한 dense map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맵 구성/보정 결과에 따름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형제 채널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맵 + RGB phase offset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재검출 없이 측정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 패턴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RGB에서 확정한 sub dot 좌표 재사용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 자체 중심을 새로 찾지 않음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EF7CF-D768-4B08-A419-74FEE6DC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따라서 “항상 실제 발광 중심에서 측정한다”는 설명은 현재 전체 검사 경로에 맞지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895769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7AECE-FF42-4641-984C-E0163EB4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레벨에 사용하는 영상과 값의 단위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D28C0-AC55-457D-9270-6E41E34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C4D61-E406-44C1-B27B-B844DFED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컬러 입력: 각 픽셀에서 gray = max(R, G, B)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16C58-1B7B-4C19-9251-7B332AA2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측정 입력: CV_8UC1, 0…255 DN의 검사 gray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EEC26-8E4D-4A5E-A5FE-DA18B8E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레벨 출력: 가중 평균의 double 값, 소수점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737753-F38F-4B04-B109-437F2D2B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검출용 top-hat 영상과 실제 레벨 샘플링용 gray는 구분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6B913-A727-44C9-910C-9C1AB5DF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DN은 영상 수치입니다. 별도 광학·카메라 보정 없이 cd/m² 또는 전류값으로 해석할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529472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3EC10-A5BB-4C89-9BE9-2A42A610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실제 7×7 커널의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40519-6475-4744-A75E-CFBEE37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현재 코드는 고정된 이항 계수로 가우시안을 근사합니다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A5163-525C-4E4D-8E2B-D3A84973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9F8C4-647F-47CF-BB49-BC530E93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716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k = [1, 6, 15, 20, 15, 6, 1] / 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B1FF0-08DA-4FD0-A9AE-BAD29149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W(i,j) = k(i) × k(j)       Σ W =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2816B-47CA-4B10-B655-7E0A9A5B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9525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L(cx,cy) = Σ W(i,j) × Ĩ(cx+i, cy+j)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1C9C0-0CAA-4AE4-BA3A-ED1A9A78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i,j = −3…+3    Ĩ는 Bilinear 또는 Nearest 방식의 픽셀 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3075E-8AD8-48FF-8B2F-09409B62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축별 분산 = 1.5 px², 등가 표준편차 ≈ 1.225 px. σ를 Recipe에서 입력하는 구조는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398476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51081-4E22-45EF-B01C-CAEC05D0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49개 픽셀의 가중치 전체 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2CCFA-963D-4A84-96EA-E23CE89B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행과 열은 측정 중심에서의 오프셋입니다. 단위: 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B5986-DD72-4BA7-BB5E-6F587CF9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857375"/>
          <a:ext xmlns:a="http://schemas.openxmlformats.org/drawingml/2006/main" cx="10934700" cy="3781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66838"/>
                <a:gridCol w="1366838"/>
                <a:gridCol w="1366838"/>
                <a:gridCol w="1366838"/>
                <a:gridCol w="1366838"/>
                <a:gridCol w="1366838"/>
                <a:gridCol w="1366838"/>
                <a:gridCol w="1366838"/>
              </a:tblGrid>
              <a:tr h="47267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dy / dx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−3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−2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+2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+3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0.0244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0.4883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0.0244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-2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0.8789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2.9297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0.8789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5.4932</a:t>
                      </a:r>
                    </a:p>
                  </a:txBody>
                  <a:tcPr marL="91440" marR="91440" marT="45720" marB="45720">
                    <a:solidFill>
                      <a:srgbClr val="83C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7.3242</a:t>
                      </a:r>
                    </a:p>
                  </a:txBody>
                  <a:tcPr marL="91440" marR="91440" marT="45720" marB="45720">
                    <a:solidFill>
                      <a:srgbClr val="217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5.4932</a:t>
                      </a:r>
                    </a:p>
                  </a:txBody>
                  <a:tcPr marL="91440" marR="91440" marT="45720" marB="45720">
                    <a:solidFill>
                      <a:srgbClr val="83C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0.4883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2.9297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7.3242</a:t>
                      </a:r>
                    </a:p>
                  </a:txBody>
                  <a:tcPr marL="91440" marR="91440" marT="45720" marB="45720">
                    <a:solidFill>
                      <a:srgbClr val="217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9.7656</a:t>
                      </a:r>
                    </a:p>
                  </a:txBody>
                  <a:tcPr marL="91440" marR="91440" marT="45720" marB="45720">
                    <a:solidFill>
                      <a:srgbClr val="217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7.3242</a:t>
                      </a:r>
                    </a:p>
                  </a:txBody>
                  <a:tcPr marL="91440" marR="91440" marT="45720" marB="45720">
                    <a:solidFill>
                      <a:srgbClr val="217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2.9297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0.4883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5.4932</a:t>
                      </a:r>
                    </a:p>
                  </a:txBody>
                  <a:tcPr marL="91440" marR="91440" marT="45720" marB="45720">
                    <a:solidFill>
                      <a:srgbClr val="83C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7.3242</a:t>
                      </a:r>
                    </a:p>
                  </a:txBody>
                  <a:tcPr marL="91440" marR="91440" marT="45720" marB="45720">
                    <a:solidFill>
                      <a:srgbClr val="217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5.4932</a:t>
                      </a:r>
                    </a:p>
                  </a:txBody>
                  <a:tcPr marL="91440" marR="91440" marT="45720" marB="45720">
                    <a:solidFill>
                      <a:srgbClr val="83C5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0.8789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2.9297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2.1973</a:t>
                      </a:r>
                    </a:p>
                  </a:txBody>
                  <a:tcPr marL="91440" marR="91440" marT="45720" marB="45720">
                    <a:solidFill>
                      <a:srgbClr val="C3E5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0.8789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  <a:tr h="47267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0.0244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0.4883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0.3662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0.1465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0.0244</a:t>
                      </a:r>
                    </a:p>
                  </a:txBody>
                  <a:tcPr marL="91440" marR="91440" marT="45720" marB="45720">
                    <a:solidFill>
                      <a:srgbClr val="EDF6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CFE3C-B839-40B0-8011-69A269D3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중앙 9.7656%, 가로/세로 바로 옆 7.3242%, 대각선 바로 옆 5.4932%, 네 모서리 각각 0.0244%</a:t>
            </a:r>
          </a:p>
        </p:txBody>
      </p:sp>
    </p:spTree>
    <p:extLst>
      <p:ext uri="{BB962C8B-B14F-4D97-AF65-F5344CB8AC3E}">
        <p14:creationId xmlns:p14="http://schemas.microsoft.com/office/powerpoint/2010/main" val="228902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038AD-64E9-4837-B4E7-14D72EEC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영역별로 누적되는 가중치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4E692-1399-4DAE-A5A1-EC7CD711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3143250"/>
                <a:gridCol w="4981575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중심을 포함한 영역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누적 가중치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테두리의 가중치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1×1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9.765625%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1 pixel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3×3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61.035156%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1×1 밖 8 pixel: 51.269531%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5×5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93.847656%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3×3 밖 16 pixel: 32.812500%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100.000000%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5×5 밖 24 pixel: 6.152344%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A0CEB-E01D-4C2B-BCB6-3A3B731C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“7×7 전체를 똑같이 본다”는 해석은 틀립니다. 주된 기여는 중앙 5×5 안에서 나옵니다.</a:t>
            </a:r>
          </a:p>
        </p:txBody>
      </p:sp>
    </p:spTree>
    <p:extLst>
      <p:ext uri="{BB962C8B-B14F-4D97-AF65-F5344CB8AC3E}">
        <p14:creationId xmlns:p14="http://schemas.microsoft.com/office/powerpoint/2010/main" val="9973516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72251-8E0B-4E8B-8450-B243BDF2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dot 크기와 레벨 값의 관계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48740-7A2B-4EE0-8C8E-9E8ACE1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동일한 최대 밝기라도 밝은 면적이 작으면 레벨이 낮습니다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7FBD9-45CA-47ED-9159-8881F2A5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952750"/>
                <a:gridCol w="388620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 DN인 영역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밝기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가우시안 레벨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1×1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19.5313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3×3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122.0703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5×5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187.6953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전체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200.0000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B06FE-213A-4FDC-A988-59F189E0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밝은 영역 바깥은 0 DN으로 둔 단순 예시입니다. 레벨은 peak도 전체 광량의 합도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105316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7B1A-6F1F-441B-A5D2-A10D95C3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Bilinear의 네 픽셀 혼합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7C794-29A8-4A3B-AAD2-18159C97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소수점 중심을 정수 픽셀로 반올림하지 않고 반영합니다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2A3A2-289D-449D-81C9-E3777ACE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476625"/>
                <a:gridCol w="2047875"/>
                <a:gridCol w="28384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 위치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보간 가중치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DN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기여 DN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(100, 200)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0.75×0.40 = 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(101, 200)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0.25×0.40 = 10%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(100, 201)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0.75×0.60 = 45%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(101, 201)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0.25×0.60 = 15%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160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27D65-7F9F-43CA-ADE6-7B2B8AC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81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보간값 129 DN에 해당 커널 위치의 W(i,j)를 곱해 합산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1A772-7D09-4477-A19D-55B1054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중앙 커널 위치라면 기여도 = 129 × 400 / 4096 = 12.5977 DN</a:t>
            </a:r>
          </a:p>
        </p:txBody>
      </p:sp>
    </p:spTree>
    <p:extLst>
      <p:ext uri="{BB962C8B-B14F-4D97-AF65-F5344CB8AC3E}">
        <p14:creationId xmlns:p14="http://schemas.microsoft.com/office/powerpoint/2010/main" val="689996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54426-3C67-466B-8660-FD76B58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7×7 샘플이 최대 8×8 원본 픽셀을 읽는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27FC-21E8-4CA9-AAB6-BF8A3496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Bilinear에서 각 축의 소수점 부분이 0보다 크면 인접 픽셀도 읽습니다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4D922-40D7-4149-BBB5-FC3AD9D6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857500"/>
                <a:gridCol w="4838700"/>
              </a:tblGrid>
              <a:tr h="6715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좌표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샘플 위치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원본에서 비중이 0보다 큰 영역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X, 정수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= 49개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= 49개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소수 X, 정수 Y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= 49개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8×7 = 56개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715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소수 X, 소수 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 = 49개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8×8 = 64개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EA8CB-87D6-4F67-8EC1-D08B06B1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482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예: cx=100.25, cy=200.60이면</a:t>
            </a:r>
          </a:p>
          <a:p xmlns:a="http://schemas.openxmlformats.org/drawingml/2006/main">
            <a:pPr>
              <a:defRPr sz="2100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x=97…104, y=197…204 원본 픽셀이 기여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86A98-CB88-453E-BE4F-B7C6AEFA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영상 내부 기준입니다. 물체면 환산은 7×sx, 7×sy µm이며 sx/sy는 실제 보정된 µm/px 값이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5430163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73F8D-C44D-41C0-B22F-6C9ED94A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0.5 px 위상에서 바뀌는 유효 가중치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BA79B-CBC3-42A2-A85E-865BD45F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606CF-0998-44D2-A3E3-9C4257F7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526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축별 유효 계수 = [1, 7, 21, 35, 35, 21, 7, 1] / 128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2914650"/>
          <a:ext xmlns:a="http://schemas.openxmlformats.org/drawingml/2006/main" cx="109347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762500"/>
                <a:gridCol w="393382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위상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최대 원본 픽셀 비중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축별 유효 분산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(0, 0)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 / 4096 = 9.7656%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 px²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(0.5, 0.5)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1225 / 16384 = 7.4768%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1.75 px²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76CFF-4D13-4627-8432-78B3854B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Bilinear는 좌표 변화에 따른 값을 연속적으로 잇습니다. 유효 폭과 peak 감쇠는 소수점 위상에 따라 조금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9660557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7605-0429-4817-B31D-B397199F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가우시안을 쓰는 이유와 대가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902C2-E8B5-4AD0-8B7F-19706AED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933825"/>
                <a:gridCol w="4857750"/>
              </a:tblGrid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함께 고려할 점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고주파 잡음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주변을 평균해 단일 pixel 요동 감소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상관 잡음·밝기 드리프트는 그대로 남을 수 있음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 부근 강조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주변 배경보다 중심 신호 비중을 높임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위치가 틀리면 밝은 dot도 저평가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변화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Bilinear와 함께 부드러운 레벨 변화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정합이나 실제 dot 이동 보정은 별도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계산량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49개 위치의 고정 계수 가중합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Bilinear는 각 위치에서 이웃 4개 읽기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316DB-2635-4740-B800-4CA22912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고립된 정상 dot의 대칭 형태를 측정할 때 유리하지만, 좁은 발광부의 peak와 이웃 dot 대비는 감소합니다.</a:t>
            </a:r>
          </a:p>
        </p:txBody>
      </p:sp>
    </p:spTree>
    <p:extLst>
      <p:ext uri="{BB962C8B-B14F-4D97-AF65-F5344CB8AC3E}">
        <p14:creationId xmlns:p14="http://schemas.microsoft.com/office/powerpoint/2010/main" val="18359087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E7533-BD32-41E1-B444-156A9376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잡음 감소량의 정량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F681A-8CFB-454A-B9E7-6B15B385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2657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143375"/>
                <a:gridCol w="3362325"/>
              </a:tblGrid>
              <a:tr h="66436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잡음 표준편차 / 입력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잡음 4 DN일 때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pixel 1개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4.0000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균일 7×7 평균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1/7 = 0.1429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0.5714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6436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가우시안 7×7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0.2256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0.9023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A0731-CBA2-4F21-91B2-4A52F079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57750"/>
            <a:ext cx="1076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현재 커널의 유효 독립 표본 수 ≈ 19.65 pixels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78030-9E38-473B-8532-189ADC40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균일 평균이 잡음만 보면 더 작지만 가장자리·배경 비중도 큽니다. 표는 독립 잡음과 정수 중심을 가정합니다.</a:t>
            </a:r>
          </a:p>
        </p:txBody>
      </p:sp>
    </p:spTree>
    <p:extLst>
      <p:ext uri="{BB962C8B-B14F-4D97-AF65-F5344CB8AC3E}">
        <p14:creationId xmlns:p14="http://schemas.microsoft.com/office/powerpoint/2010/main" val="19592955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339E9-52A8-4AC4-9363-F39B2334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시프트 해석: 전체 이동과 잔여 오차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1970B-3D00-40F7-A45B-80D22B53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24200"/>
                <a:gridCol w="4572000"/>
                <a:gridCol w="3238500"/>
              </a:tblGrid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중심과 발광 중심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 영향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전체가 이동, 맵 정합 성공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맵도 함께 움직여 잔여 오차가 작음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주로 보간·픽셀 위상 차이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dot만 이동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주변/표준맵 중심과 dot 중심이 어긋남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신호가 낮은 가중치 쪽으로 이동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RGB phase 또는 W 위치 오차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재사용 좌표와 실제 발광 위치가 어긋남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채널별 레벨 편향 가능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측정점만 반올림 이동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Nearest의 정수 위치 선택이 바뀜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계단식 레벨 변화 가능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17ECB-6249-41FB-8F41-364A4BA5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중요한 값은 실제 이동량 자체보다 잔여 오차 δ = 발광 중심 − 최종 측정 중심입니다.</a:t>
            </a:r>
          </a:p>
        </p:txBody>
      </p:sp>
    </p:spTree>
    <p:extLst>
      <p:ext uri="{BB962C8B-B14F-4D97-AF65-F5344CB8AC3E}">
        <p14:creationId xmlns:p14="http://schemas.microsoft.com/office/powerpoint/2010/main" val="2002335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0D341-08C3-4AFE-93B0-D06C0779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시프트 수치 실험의 조건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10AF4-550F-49D9-BD94-059D8BC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02113-D6FD-4E20-9794-6AC20095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1076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Iδ(x,y) = round{10 + 200 exp[−r²/(2s²)]}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A37DA-6DF6-42AD-A164-2427545B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r² = (x−δx)² + (y−δy)²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4FF40-FCD4-412A-A514-66A6D020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배경 10 DN, 중심 peak 210 DN, 이웃 dot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5905D-7FF9-4296-AD12-073DE78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s는 dot 표준편차: 1.0 / 1.5 / 2.0 px (FWHM ≈ 2.355s)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E423C-D1F9-4819-A0F0-7E5FD74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00525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X 방향 0…3 px 이동, 측정 중심 (0,0)에 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110ED-1A43-4B1C-9AFF-35D3EC3E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실제 코드와 같은 고정 7×7 가중치로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269CB-EDD3-4C97-9FE9-B0179422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실험용 수학 영상입니다. 실제 장비의 발광 형태, 광학 PSF, 픽셀 적분, 잡음에 따라 결과가 달라집니다.</a:t>
            </a:r>
          </a:p>
        </p:txBody>
      </p:sp>
    </p:spTree>
    <p:extLst>
      <p:ext uri="{BB962C8B-B14F-4D97-AF65-F5344CB8AC3E}">
        <p14:creationId xmlns:p14="http://schemas.microsoft.com/office/powerpoint/2010/main" val="18928248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49EFD-6B71-4314-B904-C869EC45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동일한 7×7 영역에서 밝은 부분이 이동하는 모습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7BD78-E114-4669-9C0B-89CAF959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수치 영상의 원본 DN입니다. 두 표 모두 중심 sample 좌표는 (0,0)입니다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75424-65E0-4121-B38E-843DD94B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798EA-B47F-4CD0-92A5-0F3CB679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71650"/>
            <a:ext cx="521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정렬된 dot, δx=0 px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38175" y="2352675"/>
          <a:ext xmlns:a="http://schemas.openxmlformats.org/drawingml/2006/main" cx="51435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4786"/>
                <a:gridCol w="734786"/>
                <a:gridCol w="734786"/>
                <a:gridCol w="734786"/>
                <a:gridCol w="734786"/>
                <a:gridCol w="734786"/>
                <a:gridCol w="734786"/>
              </a:tblGrid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B146F-8AD7-43DA-BDD3-00BE7356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340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레벨 128.24 DN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FE873-A20F-44E2-BB3C-3BB6432B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71650"/>
            <a:ext cx="521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오른쪽 이동, δx=1 px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362700" y="2352675"/>
          <a:ext xmlns:a="http://schemas.openxmlformats.org/drawingml/2006/main" cx="51435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34786"/>
                <a:gridCol w="734786"/>
                <a:gridCol w="734786"/>
                <a:gridCol w="734786"/>
                <a:gridCol w="734786"/>
                <a:gridCol w="734786"/>
                <a:gridCol w="734786"/>
              </a:tblGrid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210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28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170</a:t>
                      </a:r>
                    </a:p>
                  </a:txBody>
                  <a:tcPr marL="91440" marR="91440" marT="45720" marB="45720"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138</a:t>
                      </a:r>
                    </a:p>
                  </a:txBody>
                  <a:tcPr marL="91440" marR="91440" marT="45720" marB="45720"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2525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92</a:t>
                      </a:r>
                    </a:p>
                  </a:txBody>
                  <a:tcPr marL="91440" marR="91440" marT="45720" marB="4572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</a:t>
                      </a:r>
                    </a:p>
                  </a:txBody>
                  <a:tcPr marL="91440" marR="91440" marT="45720" marB="45720">
                    <a:solidFill>
                      <a:srgbClr val="6868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47474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2727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</a:t>
                      </a:r>
                    </a:p>
                  </a:txBody>
                  <a:tcPr marL="91440" marR="91440" marT="45720" marB="45720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</a:t>
                      </a:r>
                    </a:p>
                  </a:txBody>
                  <a:tcPr marL="91440" marR="91440" marT="45720" marB="45720">
                    <a:solidFill>
                      <a:srgbClr val="3A3A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2F2F2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C2B32-D46C-4B6E-9E10-2E11A1F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34000"/>
            <a:ext cx="514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레벨 113.88 DN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F8884-FF8A-467F-A2B4-5A01FAC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각 표의 열과 행은 −3…+3 px입니다. 같은 밝기의 dot도 중앙 가중치에서 벗어나면 측정 레벨이 낮아집니다.</a:t>
            </a:r>
          </a:p>
        </p:txBody>
      </p:sp>
    </p:spTree>
    <p:extLst>
      <p:ext uri="{BB962C8B-B14F-4D97-AF65-F5344CB8AC3E}">
        <p14:creationId xmlns:p14="http://schemas.microsoft.com/office/powerpoint/2010/main" val="2638425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2CF8B-50D5-4268-89BE-1567AC96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고정 측정점에서 dot이 이동할 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D5E54-1945-4094-80E2-ED2A5A6E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세로축은 배경을 뺀 신호 유지율입니다. 원래 위치를 100%로 정규화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BDA9F-7F9F-4DE2-8D94-3545FA70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a99416c7af49c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7C324-94DB-41F4-92B3-21D664B5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3360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1 px 이동 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81F03-A680-40BF-B616-870A5860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47975"/>
            <a:ext cx="30194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s=1 : 82.79%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s=1.5 : 87.85%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s=2 : 91.42%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D4C9D-77AB-4FD8-A142-7DD1F2F4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같은 1 px 오차라도 좁은 dot이 더 민감합니다. 측정점이 따라가지 않는 조건의 결과입니다.</a:t>
            </a:r>
          </a:p>
        </p:txBody>
      </p:sp>
    </p:spTree>
    <p:extLst>
      <p:ext uri="{BB962C8B-B14F-4D97-AF65-F5344CB8AC3E}">
        <p14:creationId xmlns:p14="http://schemas.microsoft.com/office/powerpoint/2010/main" val="1018142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3A6B9-7D5D-4506-AC9B-7E96AFD5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시프트별 실제 계산 레벨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E735E-1480-41BA-B1AE-B2D6F4E6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예시 dot 폭 s=1.5 px, 측정점은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46457-F9F1-4CBA-B680-8DC9040B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28650" y="1847850"/>
          <a:ext xmlns:a="http://schemas.openxmlformats.org/drawingml/2006/main" cx="10934700" cy="3876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000375"/>
                <a:gridCol w="2809875"/>
                <a:gridCol w="2695575"/>
              </a:tblGrid>
              <a:tr h="48458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 시프트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출력 레벨 (DN)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 유지율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 감소율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128.24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127.25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99.16%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0.84%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124.39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96.74%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113.88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87.85%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12.15%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98.25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74.64%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25.36%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80.31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59.46%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40.54%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48458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46.47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5CADF-F93F-4B4E-865D-03813FB9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유지율 = (Lδ−10)/(L0−10). 실제 검사 레벨 L에는 배경 10 DN이 포함됩니다.</a:t>
            </a:r>
          </a:p>
        </p:txBody>
      </p:sp>
    </p:spTree>
    <p:extLst>
      <p:ext uri="{BB962C8B-B14F-4D97-AF65-F5344CB8AC3E}">
        <p14:creationId xmlns:p14="http://schemas.microsoft.com/office/powerpoint/2010/main" val="1056712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4D1D0-4E45-4695-82BC-7770F964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측정점이 따라갈 때: Bilinear와 Nearest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02B45-4AB5-4370-B823-AC4C0DF7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영상 dot과 측정 중심을 함께 이동시킨 결과입니다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13318-4850-40D9-AE4E-7FBC9014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fbbd5beb024af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DFD3E-BDF6-477A-8068-C7E34A36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981200"/>
            <a:ext cx="319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완전히 일정하지는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E67D5-3354-4C7B-8B45-A97514F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43225"/>
            <a:ext cx="3143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픽셀 격자에서의 샘플링 위상과 보간 때문에 작은 주기 변화가 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Bilinear는 소수점 좌표를 반영하지만, 항상 더 높은 레벨을 만들지는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50AA4-2E45-4116-9F48-2E4AEA0B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고정 중심에서 생기는 큰 저하와, 중심 추종 후 남는 위상 변화를 구분해야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5120127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04265-1C05-4B78-8BAA-153B2FCE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가우시안은 얼마나 시프트 민감도를 줄이나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595AB-332F-4DE2-AD0A-9F09F4FD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dot s=1.5 px, 측정점 고정, 배경을 뺀 신호 유지율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85CF7-8ECF-49D6-9D5B-157CA098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19125" y="1809750"/>
          <a:ext xmlns:a="http://schemas.openxmlformats.org/drawingml/2006/main" cx="75247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a891c46948468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8614F-2058-4CE0-B7BC-BD491260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0275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1 px 이동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4E8A-12A5-493B-9E5C-B694C566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24175"/>
            <a:ext cx="30003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중앙 pixel</a:t>
            </a:r>
          </a:p>
          <a:p xmlns:a="http://schemas.openxmlformats.org/drawingml/2006/main">
            <a:pPr>
              <a:def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80.00%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가우시안</a:t>
            </a:r>
          </a:p>
          <a:p xmlns:a="http://schemas.openxmlformats.org/drawingml/2006/main">
            <a:pPr>
              <a:def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87.85%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D378F-5F3A-4EE4-8B7E-A91B794F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이 예시에서는 상대적인 이동 민감도가 줄어듭니다. 대신 원래 위치의 절대 peak도 평균화로 낮아집니다.</a:t>
            </a:r>
          </a:p>
        </p:txBody>
      </p:sp>
    </p:spTree>
    <p:extLst>
      <p:ext uri="{BB962C8B-B14F-4D97-AF65-F5344CB8AC3E}">
        <p14:creationId xmlns:p14="http://schemas.microsoft.com/office/powerpoint/2010/main" val="13173064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927EF-251B-424D-9470-D25AF14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이론 근사로 보는 허용 잔여 오차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314A9-9646-4664-A18F-180632CC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096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연속 가우시안 근사입니다. 앞의 이산 커널 계산과 구분합니다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969C-9B53-4131-8863-CF6A0705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C015E-6844-4A4E-8049-2F3D55F3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85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S(δ) / S(0) ≈ exp[−|δ|² / {2(s² + 1.5)}]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28650" y="2867025"/>
          <a:ext xmlns:a="http://schemas.openxmlformats.org/drawingml/2006/main" cx="10934700" cy="2276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33850"/>
                <a:gridCol w="4133850"/>
              </a:tblGrid>
              <a:tr h="5691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dot 폭 s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 95% 유지의 |δ|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 90% 유지의 |δ|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0.51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0.62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0.89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5691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1.08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FA2F0-6868-490A-AA13-A42666C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|δ|=√(δx²+δy²). 실제 허용 오차는 실측 dot 영상과 레벨/등급 허용 변동으로 확정해야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0907381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398EF-9970-4D58-AB05-952833F6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이웃 dot과 배경이 섞이는 영향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5F335-01B4-40CF-BBF0-421A898D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5029200"/>
              </a:tblGrid>
              <a:tr h="5905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밝은 단일 pixel 위치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측정점 레벨에 더하는 값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 (0,0)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19.5313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중심에서 (2,0)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5.8594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중심에서 (3,0) px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0.9766 DN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중심에서 (4,0) px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정수 중심에서는 0 DN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89E70-FC26-40D6-967A-F81F92FA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958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실제 이웃 dot은 면적과 광학 꼬리를 가지므로</a:t>
            </a:r>
          </a:p>
          <a:p xmlns:a="http://schemas.openxmlformats.org/drawingml/2006/main">
            <a:pPr>
              <a:defRPr sz="2025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여러 pixel의 기여를 모두 더해야 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62C35-240C-45EF-9DF1-F24DC4BB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균일 배경 B는 그대로 +B가 됩니다. 현재 Gaussian sampler 자체는 배경 감산을 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571225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A7146-FA6E-4769-B3CE-A25CA2B1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영상 경계와 ROI 경계의 주의점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E4CA3-B9E5-48B2-9D1B-D464E86C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229100"/>
                <a:gridCol w="3848100"/>
              </a:tblGrid>
              <a:tr h="716756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상황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동작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영향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167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Bilinear: 영상 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좌표를 영상 가장자리로 clamp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가장자리 pixel을 반복해 사용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7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Nearest: 영상 밖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밖의 항을 제외하고 남은 가중치로 나눔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 커널의 모양과 분모가 바뀜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16756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ROI 가장자리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sample 좌표의 ROI 포함 여부와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7×7이 ROI 안에만 머문다는 보장은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770EA-D93E-4726-98E1-B141AE31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두 방식의 영상 경계 처리는 서로 다릅니다. 경계에서의 측정값을 내부 dot과 동일 조건으로 비교하지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2246359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1F894-2927-48B6-8B1F-06E81779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레벨 저하와 등급 해석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11BFB-F410-4DBE-8624-BFA8BB86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17389-7AE7-4E1F-9B32-97CE7CA4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6B9B"/>
                </a:solidFill>
                <a:latin typeface="Malgun Gothic"/>
                <a:ea typeface="Malgun Gothic"/>
                <a:cs typeface="Malgun Gothic"/>
              </a:rPr>
              <a:t>상대 레벨 = 측정 레벨 / 정상 기준 레벨 ×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57B5C-B2B7-4A1D-A109-8FAEEB5E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정상 기준은 설정된 percentile로 산출하며 P90 설정을 사용 가능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BCF61-F202-4697-BCCA-5F98E51B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현재 경로는 Recipe의 A/B/C 기준을 비교하고 그 미만을 D로 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473D9-B4CB-448F-9AEC-56199D4D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절대 레벨 판정 경로에서는 비율 대신 DN을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A138A-17B4-48AA-8C5F-53B39C8D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공통 오차는 상대 비율에서 일부 상쇄될 수 있지만 절대 레벨은 변함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D0CB5E-CCF3-43F6-824E-9ACDA631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개별 dot의 위치 오차는 실제 밝기 저하처럼 보일 수 있습니다. 레벨과 중심 잔차를 함께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20490411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390BE-7764-44E9-9CE5-7157254F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실제 장비에서 확인할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D6492-6A24-4AFC-9156-F9AE588D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29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372100"/>
                <a:gridCol w="3371850"/>
              </a:tblGrid>
              <a:tr h="603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항목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확정할 값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dot 크기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원본의 X/Y 밝기 profile과 blob 폭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px 단위 발광 폭, 배경, 포화 여부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좌표 잔차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맵 좌표와 실제 centroid 비교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채널별 δx/δy 분포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시프트 민감도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원본에 측정점만 0.1 px씩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 변화 곡선, 1/5/10% 손실 위치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안정도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조건으로 반복 촬영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레벨 평균/표준편차와 등급 변화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 차이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표준맵, 기준/형제 채널, W를 구분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경로의 중심 오차인지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478FF-2DEA-4963-ADA8-8BD12925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측정점만 이동하는 실험은 커널 민감도 확인용입니다. 실제 촬영 시프트에는 광학·픽셀 위상 효과가 추가됩니다.</a:t>
            </a:r>
          </a:p>
        </p:txBody>
      </p:sp>
    </p:spTree>
    <p:extLst>
      <p:ext uri="{BB962C8B-B14F-4D97-AF65-F5344CB8AC3E}">
        <p14:creationId xmlns:p14="http://schemas.microsoft.com/office/powerpoint/2010/main" val="7672105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F93BC-E3BB-41B2-BEC1-13CD5806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해석 기준 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0ACED-173D-4F93-9DED-BFD32FB1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EFF3E-EE89-42FF-9E15-929C9696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레벨 영역은 고정 7×7이고 Bilinear의 원본 지지는 최대 8×8입니다.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C1F4A-49BA-462B-8BDA-DD9BA2E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중앙 3×3이 61.04%, 중앙 5×5가 93.85%를 차지합니다.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4030B-B90D-41D6-A415-A12F849D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623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가우시안은 잡음과 위치 민감도를 줄이지만 peak도 낮춥니다.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75946-2F41-4F4F-91E0-ECBD8DEE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시프트 영향은 dot 폭과 최종 측정 중심의 잔여 오차로 판단합니다.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9E198-CF46-4893-8838-F8F7BE5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482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레벨, 실제 중심, 맵 좌표를 같이 보면 밝기와 위치 문제를 구분할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29719070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343C9-75BB-4488-AB91-E416504A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부록: OpenCV 기본 7×7과의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6355B-669D-4988-B7BC-653522F1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109347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86225"/>
                <a:gridCol w="4086225"/>
              </a:tblGrid>
              <a:tr h="723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프로젝트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OpenCV 기본 σ=0, 7×7</a:t>
                      </a:r>
                    </a:p>
                  </a:txBody>
                  <a:tcPr marL="91440" marR="91440" marT="45720" marB="45720">
                    <a:solidFill>
                      <a:srgbClr val="172C42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1D 분자, 분모 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1, 6, 15, 20, 15, 6, 1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2, 7, 14, 18, 14, 7, 2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중앙 2D 가중치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400/4096 = 9.7656%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324/4096 = 7.9102%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축별 분산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1.5 px²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1.875 px²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 경계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Bilinear clamp / Nearest 재정규화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2C4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GaussianBlur의 borderType에 따름</a:t>
                      </a:r>
                    </a:p>
                  </a:txBody>
                  <a:tcPr marL="91440" marR="91440" marT="45720" marB="45720">
                    <a:solidFill>
                      <a:srgbClr val="EEF5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8D09A-468C-4343-817E-09873C6E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cv2.GaussianBlur(gray,(7,7),0) 결과로 현재 레벨을 대체하면 같은 수치가 나온다고 보장할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72501903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55E73-11F0-448B-B785-65F3C9A9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부록: 근거와 적용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9531C-C476-4B24-A824-ABA216E1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0E669-03ED-4662-83F1-B514152F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383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가중치·보간·경계: GaussianLevelSampler.cs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4987B-DA63-4AA5-99F3-291A8579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측정 좌표·탐색창: CorrectedDenseMapInspector.cs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EC096-86E6-4077-8B72-86A2D6B6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채널/W 좌표 재사용: PointGridInspectionAlgorithm.cs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D7443-B480-4748-BA3E-E770517A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검사 gray 변환: InspectionImageConverter.cs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49175-4C5A-4CAA-9DFB-888B85F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2C42"/>
                </a:solidFill>
                <a:latin typeface="Malgun Gothic"/>
                <a:ea typeface="Malgun Gothic"/>
                <a:cs typeface="Malgun Gothic"/>
              </a:rPr>
              <a:t>외부 비교: OpenCV 공식 smooth.dispatch.cpp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EB535-C29F-4938-B3FC-CBEB9086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77A"/>
                </a:solidFill>
                <a:latin typeface="Malgun Gothic"/>
                <a:ea typeface="Malgun Gothic"/>
                <a:cs typeface="Malgun Gothic"/>
              </a:rPr>
              <a:t>현재 소스를 우선했습니다. 운영 Recipe와 실측 이미지가 지정되지 않아 영역 환산과 이동 영향은 조건별 예시로 제시합니다.</a:t>
            </a:r>
          </a:p>
        </p:txBody>
      </p:sp>
    </p:spTree>
    <p:extLst>
      <p:ext uri="{BB962C8B-B14F-4D97-AF65-F5344CB8AC3E}">
        <p14:creationId xmlns:p14="http://schemas.microsoft.com/office/powerpoint/2010/main" val="947797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2026-09-05T03:52:27.1690000Z</dcterms:created>
  <dcterms:modified xsi:type="dcterms:W3CDTF">2026-09-05T03:52:27.1700000Z</dcterms:modified>
</coreProperties>
</file>